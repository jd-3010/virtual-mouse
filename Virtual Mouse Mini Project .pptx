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20"/>
  </p:notesMasterIdLst>
  <p:sldIdLst>
    <p:sldId id="256" r:id="rId2"/>
    <p:sldId id="258" r:id="rId3"/>
    <p:sldId id="260" r:id="rId4"/>
    <p:sldId id="262" r:id="rId5"/>
    <p:sldId id="261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4" r:id="rId15"/>
    <p:sldId id="271" r:id="rId16"/>
    <p:sldId id="272" r:id="rId17"/>
    <p:sldId id="273" r:id="rId18"/>
    <p:sldId id="275" r:id="rId19"/>
  </p:sldIdLst>
  <p:sldSz cx="9144000" cy="5143500" type="screen16x9"/>
  <p:notesSz cx="6858000" cy="9144000"/>
  <p:embeddedFontLst>
    <p:embeddedFont>
      <p:font typeface="Anaheim" panose="00000500000000000000" pitchFamily="2" charset="0"/>
      <p:regular r:id="rId21"/>
    </p:embeddedFont>
    <p:embeddedFont>
      <p:font typeface="Josefin Sans" pitchFamily="2" charset="0"/>
      <p:regular r:id="rId22"/>
      <p:bold r:id="rId23"/>
      <p:italic r:id="rId24"/>
      <p:boldItalic r:id="rId25"/>
    </p:embeddedFont>
    <p:embeddedFont>
      <p:font typeface="Quicksand" panose="00000500000000000000" pitchFamily="2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513DB9-7A11-4E75-A132-946EB23E3AA3}">
  <a:tblStyle styleId="{B5513DB9-7A11-4E75-A132-946EB23E3A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b6c1c3b07f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b6c1c3b07f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df667804fb_0_1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df667804fb_0_1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b6c1c3b07f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b6c1c3b07f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6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171" name="Google Shape;171;p26"/>
            <p:cNvPicPr preferRelativeResize="0"/>
            <p:nvPr/>
          </p:nvPicPr>
          <p:blipFill>
            <a:blip r:embed="rId3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6"/>
            <p:cNvPicPr preferRelativeResize="0"/>
            <p:nvPr/>
          </p:nvPicPr>
          <p:blipFill>
            <a:blip r:embed="rId4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26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2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3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43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25" name="Google Shape;325;p43"/>
            <p:cNvPicPr preferRelativeResize="0"/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43"/>
            <p:cNvPicPr preferRelativeResize="0"/>
            <p:nvPr/>
          </p:nvPicPr>
          <p:blipFill>
            <a:blip r:embed="rId4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4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4"/>
          <p:cNvPicPr preferRelativeResize="0"/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7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5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45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333" name="Google Shape;333;p45"/>
            <p:cNvPicPr preferRelativeResize="0"/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45"/>
            <p:cNvPicPr preferRelativeResize="0"/>
            <p:nvPr/>
          </p:nvPicPr>
          <p:blipFill>
            <a:blip r:embed="rId4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72" r:id="rId4"/>
    <p:sldLayoutId id="2147483688" r:id="rId5"/>
    <p:sldLayoutId id="2147483689" r:id="rId6"/>
    <p:sldLayoutId id="2147483690" r:id="rId7"/>
    <p:sldLayoutId id="214748369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dirty="0"/>
              <a:t>VIRTUAL MOUSE</a:t>
            </a:r>
            <a:br>
              <a:rPr lang="en-US" sz="4100" dirty="0"/>
            </a:br>
            <a:r>
              <a:rPr lang="en-US" sz="4100" dirty="0"/>
              <a:t>Using Hand Gestures</a:t>
            </a:r>
            <a:endParaRPr sz="4100" dirty="0"/>
          </a:p>
        </p:txBody>
      </p:sp>
      <p:sp>
        <p:nvSpPr>
          <p:cNvPr id="344" name="Google Shape;344;p48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C .Jeremy David </a:t>
            </a:r>
          </a:p>
        </p:txBody>
      </p:sp>
      <p:cxnSp>
        <p:nvCxnSpPr>
          <p:cNvPr id="345" name="Google Shape;345;p48"/>
          <p:cNvCxnSpPr/>
          <p:nvPr/>
        </p:nvCxnSpPr>
        <p:spPr>
          <a:xfrm>
            <a:off x="2532900" y="3405948"/>
            <a:ext cx="4078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/>
          <p:nvPr/>
        </p:nvSpPr>
        <p:spPr>
          <a:xfrm>
            <a:off x="5845142" y="1107700"/>
            <a:ext cx="3274800" cy="32931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58" name="Google Shape;358;p50"/>
          <p:cNvSpPr txBox="1">
            <a:spLocks noGrp="1"/>
          </p:cNvSpPr>
          <p:nvPr>
            <p:ph type="body" idx="1"/>
          </p:nvPr>
        </p:nvSpPr>
        <p:spPr>
          <a:xfrm>
            <a:off x="719999" y="1554150"/>
            <a:ext cx="5045237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There is no other more popular navigation device than mouse . Keeping this in mind, this project is an idea of implementing a Virtual Mouse system as an alternative 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The main objective of the proposed system is to perform computer mouse cursor functions and scroll function using a web camera or a built-in camera in the computer instead of using a traditional mouse device</a:t>
            </a:r>
            <a:endParaRPr sz="1800" dirty="0">
              <a:solidFill>
                <a:schemeClr val="tx1"/>
              </a:solidFill>
              <a:latin typeface="Quicksand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B556D-9EAB-E326-2728-F1E376385C7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25048" y="1188250"/>
            <a:ext cx="3114989" cy="3132000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>
            <a:spLocks noGrp="1"/>
          </p:cNvSpPr>
          <p:nvPr>
            <p:ph type="title"/>
          </p:nvPr>
        </p:nvSpPr>
        <p:spPr>
          <a:xfrm>
            <a:off x="720000" y="2332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PROBLEM</a:t>
            </a:r>
            <a:r>
              <a:rPr lang="en" dirty="0"/>
              <a:t> STATEMENT</a:t>
            </a:r>
            <a:endParaRPr dirty="0"/>
          </a:p>
        </p:txBody>
      </p:sp>
      <p:sp>
        <p:nvSpPr>
          <p:cNvPr id="397" name="Google Shape;397;p52"/>
          <p:cNvSpPr txBox="1">
            <a:spLocks noGrp="1"/>
          </p:cNvSpPr>
          <p:nvPr>
            <p:ph type="subTitle" idx="1"/>
          </p:nvPr>
        </p:nvSpPr>
        <p:spPr>
          <a:xfrm>
            <a:off x="844082" y="1774349"/>
            <a:ext cx="7436992" cy="3135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To Design a virtual mouse which detects hand gestures and performs mouse operations only using the fingers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In proposed system users don’t have to color their fingers with a specific color and are not required to use any device or sensors.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It is easy to use and cost effective.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cxnSp>
        <p:nvCxnSpPr>
          <p:cNvPr id="399" name="Google Shape;399;p52"/>
          <p:cNvCxnSpPr/>
          <p:nvPr/>
        </p:nvCxnSpPr>
        <p:spPr>
          <a:xfrm>
            <a:off x="844082" y="1309975"/>
            <a:ext cx="421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10D5-F284-EF07-859F-BCF9F1FA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9F352-F242-00C8-2528-2E51CD10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54150"/>
            <a:ext cx="7708700" cy="3054300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tx1"/>
                </a:solidFill>
              </a:rPr>
              <a:t>Optical Mouse</a:t>
            </a:r>
            <a:endParaRPr lang="en-IN" sz="2000" b="1" dirty="0">
              <a:solidFill>
                <a:schemeClr val="tx1"/>
              </a:solidFill>
            </a:endParaRPr>
          </a:p>
          <a:p>
            <a:pPr marL="152400" indent="0" algn="just">
              <a:buNone/>
            </a:pPr>
            <a:r>
              <a:rPr lang="en-IN" sz="2000" b="1" dirty="0">
                <a:solidFill>
                  <a:schemeClr val="tx1"/>
                </a:solidFill>
              </a:rPr>
              <a:t>	</a:t>
            </a:r>
            <a:r>
              <a:rPr lang="en-IN" sz="2000" dirty="0">
                <a:solidFill>
                  <a:schemeClr val="tx1"/>
                </a:solidFill>
              </a:rPr>
              <a:t>Uses light-emitting diode and photodiodes to detect movement relative to the underlying surface. It uses Digital image correlation , an technology pioneered by defence industry </a:t>
            </a:r>
          </a:p>
          <a:p>
            <a:pPr marL="152400" indent="0" algn="just">
              <a:buNone/>
            </a:pPr>
            <a:r>
              <a:rPr lang="en-IN" sz="2000" dirty="0">
                <a:solidFill>
                  <a:schemeClr val="tx1"/>
                </a:solidFill>
              </a:rPr>
              <a:t>	</a:t>
            </a:r>
          </a:p>
          <a:p>
            <a:pPr marL="152400" indent="0" algn="just">
              <a:buNone/>
            </a:pPr>
            <a:r>
              <a:rPr lang="en-IN" sz="2000" dirty="0">
                <a:solidFill>
                  <a:schemeClr val="tx1"/>
                </a:solidFill>
              </a:rPr>
              <a:t>	It’s Disadvantages is that it needs an hardware and specific surface requirements.</a:t>
            </a:r>
          </a:p>
          <a:p>
            <a:pPr marL="152400" indent="0" algn="just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54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5906-DB37-A611-A52E-4BF902DD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Virtual Mouse 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BFCDE-6A1F-0BF1-D785-EB7BF7E89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16256"/>
            <a:ext cx="7708700" cy="3441597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Quicksand" panose="020B0604020202020204" charset="0"/>
              </a:rPr>
              <a:t>. The Virtual Mouse </a:t>
            </a:r>
            <a:r>
              <a:rPr lang="en-US" sz="1800" b="1" dirty="0">
                <a:solidFill>
                  <a:schemeClr val="tx1"/>
                </a:solidFill>
                <a:latin typeface="Quicksand" panose="020B0604020202020204" charset="0"/>
              </a:rPr>
              <a:t>provides an infrastructure between the user and the system using only a camera</a:t>
            </a:r>
            <a:r>
              <a:rPr lang="en-US" sz="1800" dirty="0">
                <a:solidFill>
                  <a:schemeClr val="tx1"/>
                </a:solidFill>
                <a:latin typeface="Quicksand" panose="020B0604020202020204" charset="0"/>
              </a:rPr>
              <a:t>. It allows users to interface with machines without the use of mechanical or physical devices, and even control mouse functionalities</a:t>
            </a:r>
            <a:endParaRPr lang="en-US" sz="1800" b="1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1800" b="1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User makes specified hand gestures that is captured by the camera.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Object recognition techniques are used to extract information from the capture.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This is then translated to some meaningful event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218144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C574-30C0-B9F8-2AEC-353F322D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D733E-2205-4BE1-B136-4B354D6A7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54150"/>
            <a:ext cx="7708700" cy="3054300"/>
          </a:xfrm>
        </p:spPr>
        <p:txBody>
          <a:bodyPr/>
          <a:lstStyle/>
          <a:p>
            <a:pPr algn="just"/>
            <a:r>
              <a:rPr lang="en-US" sz="2000" b="1" i="0" dirty="0">
                <a:solidFill>
                  <a:schemeClr val="tx1"/>
                </a:solidFill>
                <a:effectLst/>
                <a:latin typeface="RalewayRegular"/>
              </a:rPr>
              <a:t>HCI Technology</a:t>
            </a:r>
          </a:p>
          <a:p>
            <a:pPr marL="152400" indent="0" algn="just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alewayRegular"/>
              </a:rPr>
              <a:t>	Human-computer interaction (HCI) is an area of research and practice that emerged in the early 1980s.</a:t>
            </a:r>
          </a:p>
          <a:p>
            <a:pPr algn="just"/>
            <a:endParaRPr lang="en-US" sz="2000" b="1" i="0" dirty="0">
              <a:solidFill>
                <a:schemeClr val="tx1"/>
              </a:solidFill>
              <a:effectLst/>
              <a:latin typeface="RalewayRegular"/>
            </a:endParaRPr>
          </a:p>
          <a:p>
            <a:pPr algn="just"/>
            <a:r>
              <a:rPr lang="en-US" sz="2000" b="1" i="0" dirty="0">
                <a:solidFill>
                  <a:schemeClr val="tx1"/>
                </a:solidFill>
                <a:effectLst/>
                <a:latin typeface="RalewayRegular"/>
              </a:rPr>
              <a:t>Gesture Recognition</a:t>
            </a:r>
          </a:p>
          <a:p>
            <a:pPr marL="152400" indent="0" algn="just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RalewayRegular"/>
              </a:rPr>
              <a:t>	Gesture recognition is the mathematical interpretation of a human motion by a computing device using MEMS.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7921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4FD0-892F-E541-D715-A0B25BFF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USED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6337-8A43-34ED-3208-40619B798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554150"/>
            <a:ext cx="7708701" cy="1679704"/>
          </a:xfrm>
        </p:spPr>
        <p:txBody>
          <a:bodyPr/>
          <a:lstStyle/>
          <a:p>
            <a:pPr marL="152400" indent="0" algn="just">
              <a:buNone/>
            </a:pPr>
            <a:r>
              <a:rPr lang="en-US" sz="2000" b="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The AI virtual mouse system makes use of the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transformational algorithm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, and it converts the co-ordinates of fingertip from the webcam screen to the computer window full screen for controlling the mouse</a:t>
            </a:r>
            <a:endParaRPr lang="en-IN" sz="2000" dirty="0">
              <a:solidFill>
                <a:schemeClr val="tx1"/>
              </a:solidFill>
              <a:latin typeface="Quicksan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01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FC62-2C06-425C-A594-86C07E5B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9908B-8494-E9E7-40D2-86857AA7D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554150"/>
            <a:ext cx="4431863" cy="3054300"/>
          </a:xfrm>
        </p:spPr>
        <p:txBody>
          <a:bodyPr/>
          <a:lstStyle/>
          <a:p>
            <a:pPr marL="1524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Import Libraries: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Open CV (open source computer vision library)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Quicksand" panose="020B0604020202020204" charset="0"/>
              </a:rPr>
              <a:t>Mediapipe</a:t>
            </a:r>
            <a:endParaRPr lang="en-US" sz="1800" b="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Quicksand" panose="020B0604020202020204" charset="0"/>
              </a:rPr>
              <a:t>Numpy</a:t>
            </a:r>
            <a:endParaRPr lang="en-US" sz="1800" b="0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152400" indent="0">
              <a:buNone/>
            </a:pP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56F95-FB51-2959-CFD5-FF01E84BE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317" y="2571750"/>
            <a:ext cx="3462238" cy="14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934-B8FD-D7B3-A834-E1295EBF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 Detection Module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3D55C-0FC8-8411-FE45-F86BBD86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09" y="1107700"/>
            <a:ext cx="7647291" cy="14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0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934-B8FD-D7B3-A834-E1295EBF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BGR to RGB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D49BA-195D-141A-D39F-F130623A7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36" y="1107700"/>
            <a:ext cx="7237809" cy="172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81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934-B8FD-D7B3-A834-E1295EBF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which hand is Raised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4B724-AD93-FBFA-6FF1-2D2DB7E7F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" y="1107700"/>
            <a:ext cx="4597019" cy="372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8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934-B8FD-D7B3-A834-E1295EBF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the Hand Gestures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89E15-23E2-EA72-1A43-4C152D2B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96" y="1107700"/>
            <a:ext cx="4899660" cy="4008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EB101-EAFA-6EDB-0A58-BCAB1AD66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52" y="1279037"/>
            <a:ext cx="3033023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79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934-B8FD-D7B3-A834-E1295EBF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for the corresponding hand gestures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40602-84E7-8012-6E95-88CBB2FE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29" y="1107700"/>
            <a:ext cx="5072507" cy="3943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A2024-C02D-579E-2BA7-A3400C892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551" y="1258354"/>
            <a:ext cx="2644369" cy="36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9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F5A9-ED2A-76CF-0398-1F54B783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00" y="485213"/>
            <a:ext cx="7713600" cy="572700"/>
          </a:xfrm>
        </p:spPr>
        <p:txBody>
          <a:bodyPr/>
          <a:lstStyle/>
          <a:p>
            <a:r>
              <a:rPr lang="en-US" dirty="0"/>
              <a:t>OTHER OPERATIONS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ED2A8-D788-45FD-8B23-F898B4A55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773" b="15743"/>
          <a:stretch/>
        </p:blipFill>
        <p:spPr>
          <a:xfrm>
            <a:off x="870658" y="1057913"/>
            <a:ext cx="4579166" cy="1953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E597D-4CA5-3D4E-1426-4C9F427598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25" r="13331" b="7066"/>
          <a:stretch/>
        </p:blipFill>
        <p:spPr>
          <a:xfrm>
            <a:off x="870658" y="3108960"/>
            <a:ext cx="4201214" cy="205143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1F66C9E-091A-1773-517D-22F51CD07169}"/>
              </a:ext>
            </a:extLst>
          </p:cNvPr>
          <p:cNvSpPr txBox="1">
            <a:spLocks/>
          </p:cNvSpPr>
          <p:nvPr/>
        </p:nvSpPr>
        <p:spPr>
          <a:xfrm>
            <a:off x="6460868" y="1822531"/>
            <a:ext cx="2921025" cy="31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dirty="0"/>
              <a:t>Drag &amp; Drop</a:t>
            </a:r>
            <a:endParaRPr lang="en-IN" sz="2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F42E77-C1E2-3DC2-0C75-178EC08AE785}"/>
              </a:ext>
            </a:extLst>
          </p:cNvPr>
          <p:cNvSpPr txBox="1">
            <a:spLocks/>
          </p:cNvSpPr>
          <p:nvPr/>
        </p:nvSpPr>
        <p:spPr>
          <a:xfrm>
            <a:off x="6646722" y="3975426"/>
            <a:ext cx="2921025" cy="31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dirty="0"/>
              <a:t>Right Click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2362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515B-BD55-DFDB-E408-A693B5DA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85A33-5E63-EEE1-50F9-415FAD92D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54150"/>
            <a:ext cx="7708700" cy="30543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application gives user an easy way to move mouse cursor on the screen.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Since user is using his hand, the homing time (time to place hand on the mouse) is reduced a lot.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click is implemented with a very easy gesture.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 more robust finger tip detection, this application can replace the use of mouse.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200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87A2-C583-FFA7-0C1E-2385C361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E96E6-FF46-72D6-B634-16ADAEB6C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10310"/>
            <a:ext cx="7708700" cy="1554810"/>
          </a:xfrm>
        </p:spPr>
        <p:txBody>
          <a:bodyPr/>
          <a:lstStyle/>
          <a:p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background contains </a:t>
            </a:r>
            <a:r>
              <a:rPr lang="en-IN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colors</a:t>
            </a: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similar to skin, then the algorithm will loose track of the hand or falsely report its location.</a:t>
            </a:r>
          </a:p>
          <a:p>
            <a:endParaRPr lang="en-IN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Noise from sources such as segmentation error make it difficult to position the mouse pointer accurately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8A7AA9-6215-A0EB-1E56-85E778BD324B}"/>
              </a:ext>
            </a:extLst>
          </p:cNvPr>
          <p:cNvSpPr txBox="1">
            <a:spLocks/>
          </p:cNvSpPr>
          <p:nvPr/>
        </p:nvSpPr>
        <p:spPr>
          <a:xfrm>
            <a:off x="715100" y="2865120"/>
            <a:ext cx="7713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SOLUTIONS</a:t>
            </a:r>
            <a:endParaRPr lang="en-IN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07FD3CD-A13D-BA22-194A-CBE459D32C6D}"/>
              </a:ext>
            </a:extLst>
          </p:cNvPr>
          <p:cNvSpPr txBox="1">
            <a:spLocks/>
          </p:cNvSpPr>
          <p:nvPr/>
        </p:nvSpPr>
        <p:spPr>
          <a:xfrm>
            <a:off x="715100" y="3437820"/>
            <a:ext cx="7708700" cy="7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400" b="0" i="0" u="none" strike="noStrike" cap="none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displacement of detected finger tip is averaged over few frames and this average displacement is used to displace the mouse cursor on the screen. </a:t>
            </a:r>
          </a:p>
        </p:txBody>
      </p:sp>
    </p:spTree>
    <p:extLst>
      <p:ext uri="{BB962C8B-B14F-4D97-AF65-F5344CB8AC3E}">
        <p14:creationId xmlns:p14="http://schemas.microsoft.com/office/powerpoint/2010/main" val="1673765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CD09-D319-2A17-574C-2C3A6BF1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CF5D1-2BD4-10E6-3127-CF679C56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54150"/>
            <a:ext cx="7708700" cy="3054300"/>
          </a:xfrm>
        </p:spPr>
        <p:txBody>
          <a:bodyPr/>
          <a:lstStyle/>
          <a:p>
            <a:pPr marL="152400" indent="0"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VIRTUAL MOUSE is an idea of implementing an adaptable, multi –functional navigation /interaction tool </a:t>
            </a:r>
            <a:r>
              <a:rPr lang="en-US" sz="1800" b="1" i="0" dirty="0" err="1">
                <a:solidFill>
                  <a:schemeClr val="tx1"/>
                </a:solidFill>
                <a:effectLst/>
                <a:latin typeface="Quicksand" panose="020B0604020202020204" charset="0"/>
              </a:rPr>
              <a:t>tht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 overcomes physical barriers.</a:t>
            </a:r>
            <a:endParaRPr lang="en-IN" sz="1800" b="1" i="0" dirty="0">
              <a:solidFill>
                <a:schemeClr val="tx1"/>
              </a:solidFill>
              <a:effectLst/>
              <a:latin typeface="Quicksand" panose="020B0604020202020204" charset="0"/>
            </a:endParaRPr>
          </a:p>
          <a:p>
            <a:pPr marL="152400" indent="0">
              <a:buNone/>
            </a:pPr>
            <a:endParaRPr lang="en-IN" sz="1800" b="1" dirty="0">
              <a:solidFill>
                <a:schemeClr val="tx1"/>
              </a:solidFill>
              <a:latin typeface="Quicksand" panose="020B0604020202020204" charset="0"/>
            </a:endParaRPr>
          </a:p>
          <a:p>
            <a:pPr marL="152400" indent="0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	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However ,it is difficult to get stable results because </a:t>
            </a:r>
            <a:r>
              <a:rPr lang="en-US" sz="1800" b="1" i="0" dirty="0" err="1">
                <a:solidFill>
                  <a:schemeClr val="tx1"/>
                </a:solidFill>
                <a:effectLst/>
                <a:latin typeface="Quicksand" panose="020B0604020202020204" charset="0"/>
              </a:rPr>
              <a:t>oth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Quicksand" panose="020B0604020202020204" charset="0"/>
              </a:rPr>
              <a:t> the variety of lighting and skin colors of human races</a:t>
            </a:r>
          </a:p>
        </p:txBody>
      </p:sp>
    </p:spTree>
    <p:extLst>
      <p:ext uri="{BB962C8B-B14F-4D97-AF65-F5344CB8AC3E}">
        <p14:creationId xmlns:p14="http://schemas.microsoft.com/office/powerpoint/2010/main" val="259205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CD09-D319-2A17-574C-2C3A6BF1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00" y="2285400"/>
            <a:ext cx="7713600" cy="572700"/>
          </a:xfrm>
        </p:spPr>
        <p:txBody>
          <a:bodyPr/>
          <a:lstStyle/>
          <a:p>
            <a:pPr algn="ctr"/>
            <a:r>
              <a:rPr lang="en-US" sz="2800" b="1" i="1" dirty="0"/>
              <a:t>THANK YOU !</a:t>
            </a:r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423998262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Aesthetics Business Plan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561</Words>
  <Application>Microsoft Office PowerPoint</Application>
  <PresentationFormat>On-screen Show (16:9)</PresentationFormat>
  <Paragraphs>67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Quicksand</vt:lpstr>
      <vt:lpstr>Arial</vt:lpstr>
      <vt:lpstr>Times New Roman</vt:lpstr>
      <vt:lpstr>Anaheim</vt:lpstr>
      <vt:lpstr>Josefin Sans</vt:lpstr>
      <vt:lpstr>RalewayRegular</vt:lpstr>
      <vt:lpstr>Minimalist Aesthetics Business Plan by Slidesgo</vt:lpstr>
      <vt:lpstr>VIRTUAL MOUSE Using Hand Gestures</vt:lpstr>
      <vt:lpstr>INTRODUCTION</vt:lpstr>
      <vt:lpstr>PROBLEM STATEMENT</vt:lpstr>
      <vt:lpstr>EXISTING SYSTEM</vt:lpstr>
      <vt:lpstr>What is Virtual Mouse ?</vt:lpstr>
      <vt:lpstr>LITERATURE SURVEY</vt:lpstr>
      <vt:lpstr>ALGORITHM USED</vt:lpstr>
      <vt:lpstr>IMPLEMENTATION</vt:lpstr>
      <vt:lpstr>Hand Detection Module</vt:lpstr>
      <vt:lpstr>Converting BGR to RGB</vt:lpstr>
      <vt:lpstr>Classifying which hand is Raised</vt:lpstr>
      <vt:lpstr>Detecting the Hand Gestures</vt:lpstr>
      <vt:lpstr>Actions for the corresponding hand gestures</vt:lpstr>
      <vt:lpstr>OTHER OPERATIONS</vt:lpstr>
      <vt:lpstr>APPLICATIONS</vt:lpstr>
      <vt:lpstr>LIMITATIONS</vt:lpstr>
      <vt:lpstr>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MOUSE Using Hand Gestures</dc:title>
  <cp:lastModifiedBy>Jeremy David</cp:lastModifiedBy>
  <cp:revision>16</cp:revision>
  <dcterms:modified xsi:type="dcterms:W3CDTF">2026-08-28T07:17:29Z</dcterms:modified>
</cp:coreProperties>
</file>